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7253ec56-2000-f674-d10c-f65c1676113f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Models" id="{8cb6965c-1c8a-dfa3-747d-df0ad5f2515a}">
          <p14:sldIdLst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Results" id="{9a0ad36f-d9a6-c22d-4403-79ede9639ec0}">
          <p14:sldIdLst>
            <p14:sldId id="271"/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 RMSLE</c:v>
                </c:pt>
              </c:strCache>
            </c:strRef>
          </c:tx>
          <c:spPr>
            <a:solidFill>
              <a:srgbClr val="C55A11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6262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55A1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Split Regression (reg + cas)</c:v>
                  </c:pt>
                  <c:pt idx="1">
                    <c:v>Random Forest</c:v>
                  </c:pt>
                  <c:pt idx="2">
                    <c:v>CTree (Decision Tree)</c:v>
                  </c:pt>
                  <c:pt idx="3">
                    <c:v>GBM</c:v>
                  </c:pt>
                  <c:pt idx="4">
                    <c:v>Stacking Ensemble</c:v>
                  </c:pt>
                  <c:pt idx="5">
                    <c:v>SVR (RBF)</c:v>
                  </c:pt>
                  <c:pt idx="6">
                    <c:v>GLMNet (Elastic Net)</c:v>
                  </c:pt>
                  <c:pt idx="7">
                    <c:v>PCR</c:v>
                  </c:pt>
                  <c:pt idx="8">
                    <c:v>Linear Regression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0.3928</c:v>
                </c:pt>
                <c:pt idx="1">
                  <c:v>0.3985</c:v>
                </c:pt>
                <c:pt idx="2">
                  <c:v>0.4469</c:v>
                </c:pt>
                <c:pt idx="3">
                  <c:v>0.5016</c:v>
                </c:pt>
                <c:pt idx="4">
                  <c:v>0.5624</c:v>
                </c:pt>
                <c:pt idx="5">
                  <c:v>0.8452</c:v>
                </c:pt>
                <c:pt idx="6">
                  <c:v>1.1629</c:v>
                </c:pt>
                <c:pt idx="7">
                  <c:v>1.1817</c:v>
                </c:pt>
                <c:pt idx="8">
                  <c:v>1.1855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1200" u="none">
                  <a:solidFill>
                    <a:srgbClr val="262626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6262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4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S_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32688"/>
            <a:ext cx="6254496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</a:ln>
        </p:spPr>
      </p:sp>
      <p:pic>
        <p:nvPicPr>
          <p:cNvPr id="3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7032" y="45720"/>
            <a:ext cx="713232" cy="115214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6A6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S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32688"/>
            <a:ext cx="6254496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</a:ln>
        </p:spPr>
      </p:sp>
      <p:pic>
        <p:nvPicPr>
          <p:cNvPr id="3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7032" y="45720"/>
            <a:ext cx="713232" cy="11521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011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 Rental Demand</a:t>
            </a:r>
            <a:endParaRPr lang="en-US" sz="2000" dirty="0"/>
          </a:p>
        </p:txBody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457200" y="566928"/>
            <a:ext cx="722376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6A6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6A6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31520" y="141732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FORECASTING BIKE RENTAL DEMAND</a:t>
            </a:r>
            <a:endParaRPr lang="en-US" sz="3400" dirty="0"/>
          </a:p>
        </p:txBody>
      </p:sp>
      <p:sp>
        <p:nvSpPr>
          <p:cNvPr id="3" name="Subtitle"/>
          <p:cNvSpPr txBox="1"/>
          <p:nvPr/>
        </p:nvSpPr>
        <p:spPr>
          <a:xfrm>
            <a:off x="731520" y="2880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Machine Learning Project</a:t>
            </a:r>
            <a:endParaRPr lang="en-US" sz="1800" dirty="0"/>
          </a:p>
        </p:txBody>
      </p:sp>
      <p:sp>
        <p:nvSpPr>
          <p:cNvPr id="4" name="Course"/>
          <p:cNvSpPr txBox="1"/>
          <p:nvPr/>
        </p:nvSpPr>
        <p:spPr>
          <a:xfrm>
            <a:off x="731520" y="3246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UE24CS352A  |  Team No. 29  |  Project No. 87</a:t>
            </a:r>
            <a:endParaRPr lang="en-US" sz="1400" dirty="0"/>
          </a:p>
        </p:txBody>
      </p:sp>
      <p:sp>
        <p:nvSpPr>
          <p:cNvPr id="5" name="Member 1"/>
          <p:cNvSpPr txBox="1"/>
          <p:nvPr/>
        </p:nvSpPr>
        <p:spPr>
          <a:xfrm>
            <a:off x="731520" y="37947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NAME: IBRAHIM KHALEEL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SRN: PES2UG25CS809</a:t>
            </a:r>
            <a:endParaRPr lang="en-US" sz="1400" dirty="0"/>
          </a:p>
        </p:txBody>
      </p:sp>
      <p:sp>
        <p:nvSpPr>
          <p:cNvPr id="6" name="Member 2"/>
          <p:cNvSpPr txBox="1"/>
          <p:nvPr/>
        </p:nvSpPr>
        <p:spPr>
          <a:xfrm>
            <a:off x="4206240" y="37947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NAME: DHEERAJ 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SRN: PES2UG25CS806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6A6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457200" y="56692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3" name="Problem statement"/>
          <p:cNvSpPr txBox="1"/>
          <p:nvPr/>
        </p:nvSpPr>
        <p:spPr>
          <a:xfrm>
            <a:off x="548640" y="1143000"/>
            <a:ext cx="75895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To predict the hourly count of bike rentals for the Capital Bikeshare system in Washington D.C., using weather, calendar and historical rental data.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Uses: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Manage bike availability at the right times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Plan storage capacity for the bike fleet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Plan relocation of bikes to where demand will be</a:t>
            </a:r>
            <a:endParaRPr lang="en-US" sz="1600" dirty="0"/>
          </a:p>
        </p:txBody>
      </p:sp>
      <p:sp>
        <p:nvSpPr>
          <p:cNvPr id="4" name="Goal"/>
          <p:cNvSpPr txBox="1"/>
          <p:nvPr/>
        </p:nvSpPr>
        <p:spPr>
          <a:xfrm>
            <a:off x="548640" y="3749040"/>
            <a:ext cx="7589520" cy="68580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50800" tIns="50800" rIns="127000" bIns="508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Goal: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minimise the Root Mean Squared Logarithmic Error (RMSLE). Lower is better.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6A6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457200" y="56692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Kaggle Bike Sharing Demand</a:t>
            </a:r>
            <a:endParaRPr lang="en-US" sz="1600" dirty="0"/>
          </a:p>
        </p:txBody>
      </p:sp>
      <p:sp>
        <p:nvSpPr>
          <p:cNvPr id="3" name="Source"/>
          <p:cNvSpPr txBox="1"/>
          <p:nvPr/>
        </p:nvSpPr>
        <p:spPr>
          <a:xfrm>
            <a:off x="548640" y="11430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Source: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Kaggle, Bike Sharing Demand (hourly Capital Bikeshare data, Washington D.C.)</a:t>
            </a:r>
            <a:endParaRPr lang="en-US" sz="1500" dirty="0"/>
          </a:p>
        </p:txBody>
      </p:sp>
      <p:sp>
        <p:nvSpPr>
          <p:cNvPr id="4" name="Stat card 1"/>
          <p:cNvSpPr/>
          <p:nvPr/>
        </p:nvSpPr>
        <p:spPr>
          <a:xfrm>
            <a:off x="548640" y="1600200"/>
            <a:ext cx="2468880" cy="12344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tat 1"/>
          <p:cNvSpPr txBox="1"/>
          <p:nvPr/>
        </p:nvSpPr>
        <p:spPr>
          <a:xfrm>
            <a:off x="548640" y="16916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10,886</a:t>
            </a:r>
            <a:endParaRPr lang="en-US" sz="3600" dirty="0"/>
          </a:p>
        </p:txBody>
      </p:sp>
      <p:sp>
        <p:nvSpPr>
          <p:cNvPr id="6" name="Stat label 1"/>
          <p:cNvSpPr txBox="1"/>
          <p:nvPr/>
        </p:nvSpPr>
        <p:spPr>
          <a:xfrm>
            <a:off x="640080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training observations</a:t>
            </a:r>
            <a:endParaRPr lang="en-US" sz="1400" dirty="0"/>
          </a:p>
        </p:txBody>
      </p:sp>
      <p:sp>
        <p:nvSpPr>
          <p:cNvPr id="7" name="Stat card 2"/>
          <p:cNvSpPr/>
          <p:nvPr/>
        </p:nvSpPr>
        <p:spPr>
          <a:xfrm>
            <a:off x="3108960" y="1600200"/>
            <a:ext cx="2468880" cy="12344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tat 2"/>
          <p:cNvSpPr txBox="1"/>
          <p:nvPr/>
        </p:nvSpPr>
        <p:spPr>
          <a:xfrm>
            <a:off x="3108960" y="16916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6,493</a:t>
            </a:r>
            <a:endParaRPr lang="en-US" sz="3600" dirty="0"/>
          </a:p>
        </p:txBody>
      </p:sp>
      <p:sp>
        <p:nvSpPr>
          <p:cNvPr id="9" name="Stat label 2"/>
          <p:cNvSpPr txBox="1"/>
          <p:nvPr/>
        </p:nvSpPr>
        <p:spPr>
          <a:xfrm>
            <a:off x="3200400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test observations</a:t>
            </a:r>
            <a:endParaRPr lang="en-US" sz="1400" dirty="0"/>
          </a:p>
        </p:txBody>
      </p:sp>
      <p:sp>
        <p:nvSpPr>
          <p:cNvPr id="10" name="Stat card 3"/>
          <p:cNvSpPr/>
          <p:nvPr/>
        </p:nvSpPr>
        <p:spPr>
          <a:xfrm>
            <a:off x="5669280" y="1600200"/>
            <a:ext cx="2468880" cy="12344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tat 3"/>
          <p:cNvSpPr txBox="1"/>
          <p:nvPr/>
        </p:nvSpPr>
        <p:spPr>
          <a:xfrm>
            <a:off x="5669280" y="16916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</a:t>
            </a:r>
            <a:endParaRPr lang="en-US" sz="3600" dirty="0"/>
          </a:p>
        </p:txBody>
      </p:sp>
      <p:sp>
        <p:nvSpPr>
          <p:cNvPr id="12" name="Stat label 3"/>
          <p:cNvSpPr txBox="1"/>
          <p:nvPr/>
        </p:nvSpPr>
        <p:spPr>
          <a:xfrm>
            <a:off x="5760720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target: count (rentals per hour)</a:t>
            </a:r>
            <a:endParaRPr lang="en-US" sz="1400" dirty="0"/>
          </a:p>
        </p:txBody>
      </p:sp>
      <p:sp>
        <p:nvSpPr>
          <p:cNvPr id="13" name="Features"/>
          <p:cNvSpPr txBox="1"/>
          <p:nvPr/>
        </p:nvSpPr>
        <p:spPr>
          <a:xfrm>
            <a:off x="548640" y="31089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Features: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datetime, season, holiday, workingday, weather, temp, atemp, humidity, windspeed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Target: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count (total rentals per hour)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6A6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457200" y="56692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Libraries / Packages Used</a:t>
            </a:r>
            <a:endParaRPr lang="en-US" sz="1600" dirty="0"/>
          </a:p>
        </p:txBody>
      </p:sp>
      <p:sp>
        <p:nvSpPr>
          <p:cNvPr id="3" name="Libraries"/>
          <p:cNvSpPr txBox="1"/>
          <p:nvPr/>
        </p:nvSpPr>
        <p:spPr>
          <a:xfrm>
            <a:off x="548640" y="1188720"/>
            <a:ext cx="7589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pandas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 –  loading data and feature engineering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NumPy (numpy)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 –  numerical operations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scikit-learn (sklearn)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 –  models and 10-fold cross-validation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Matplotlib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 –  plots, including the model comparison chart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seaborn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 –  exploratory data analysis plots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Jupyter Notebook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 –  running the full pipeline (ml.ipynb)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6A6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457200" y="56692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600" dirty="0"/>
          </a:p>
        </p:txBody>
      </p:sp>
      <p:sp>
        <p:nvSpPr>
          <p:cNvPr id="3" name="Card 1"/>
          <p:cNvSpPr/>
          <p:nvPr/>
        </p:nvSpPr>
        <p:spPr>
          <a:xfrm>
            <a:off x="548640" y="1143000"/>
            <a:ext cx="7589520" cy="822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 1"/>
          <p:cNvSpPr/>
          <p:nvPr/>
        </p:nvSpPr>
        <p:spPr>
          <a:xfrm>
            <a:off x="731520" y="1325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Badge number 1"/>
          <p:cNvSpPr txBox="1"/>
          <p:nvPr/>
        </p:nvSpPr>
        <p:spPr>
          <a:xfrm>
            <a:off x="73152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Card text 1"/>
          <p:cNvSpPr txBox="1"/>
          <p:nvPr/>
        </p:nvSpPr>
        <p:spPr>
          <a:xfrm>
            <a:off x="1417320" y="1216152"/>
            <a:ext cx="6537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Datetime decomposition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Split datetime into month, dayofweek and hour.</a:t>
            </a:r>
            <a:endParaRPr lang="en-US" sz="1500" dirty="0"/>
          </a:p>
        </p:txBody>
      </p:sp>
      <p:sp>
        <p:nvSpPr>
          <p:cNvPr id="7" name="Card 2"/>
          <p:cNvSpPr/>
          <p:nvPr/>
        </p:nvSpPr>
        <p:spPr>
          <a:xfrm>
            <a:off x="548640" y="2103120"/>
            <a:ext cx="7589520" cy="822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Badge 2"/>
          <p:cNvSpPr/>
          <p:nvPr/>
        </p:nvSpPr>
        <p:spPr>
          <a:xfrm>
            <a:off x="731520" y="22860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Badge number 2"/>
          <p:cNvSpPr txBox="1"/>
          <p:nvPr/>
        </p:nvSpPr>
        <p:spPr>
          <a:xfrm>
            <a:off x="73152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Card text 2"/>
          <p:cNvSpPr txBox="1"/>
          <p:nvPr/>
        </p:nvSpPr>
        <p:spPr>
          <a:xfrm>
            <a:off x="1417320" y="2176272"/>
            <a:ext cx="6537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Peak-hour indicator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Binary flag for commute hours: weekday 7–9 AM and 5–7 PM; weekend 10 AM–6 PM.</a:t>
            </a:r>
            <a:endParaRPr lang="en-US" sz="1500" dirty="0"/>
          </a:p>
        </p:txBody>
      </p:sp>
      <p:sp>
        <p:nvSpPr>
          <p:cNvPr id="11" name="Card 3"/>
          <p:cNvSpPr/>
          <p:nvPr/>
        </p:nvSpPr>
        <p:spPr>
          <a:xfrm>
            <a:off x="548640" y="3063240"/>
            <a:ext cx="7589520" cy="822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Badge 3"/>
          <p:cNvSpPr/>
          <p:nvPr/>
        </p:nvSpPr>
        <p:spPr>
          <a:xfrm>
            <a:off x="731520" y="32461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Badge number 3"/>
          <p:cNvSpPr txBox="1"/>
          <p:nvPr/>
        </p:nvSpPr>
        <p:spPr>
          <a:xfrm>
            <a:off x="73152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Card text 3"/>
          <p:cNvSpPr txBox="1"/>
          <p:nvPr/>
        </p:nvSpPr>
        <p:spPr>
          <a:xfrm>
            <a:off x="1417320" y="3136392"/>
            <a:ext cx="6537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Feature removal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Dropped holiday (no signal) and temp (collinear with atemp).</a:t>
            </a:r>
            <a:endParaRPr lang="en-US" sz="1500" dirty="0"/>
          </a:p>
        </p:txBody>
      </p:sp>
      <p:sp>
        <p:nvSpPr>
          <p:cNvPr id="15" name="Result"/>
          <p:cNvSpPr txBox="1"/>
          <p:nvPr/>
        </p:nvSpPr>
        <p:spPr>
          <a:xfrm>
            <a:off x="548640" y="4069080"/>
            <a:ext cx="7589520" cy="59436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50800" tIns="50800" rIns="127000" bIns="508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Result: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peak_hour + hour account for about 64% of Random Forest feature importance.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6A6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457200" y="56692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Metric: RMSLE</a:t>
            </a:r>
            <a:endParaRPr lang="en-US" sz="1600" dirty="0"/>
          </a:p>
        </p:txBody>
      </p:sp>
      <p:sp>
        <p:nvSpPr>
          <p:cNvPr id="3" name="Definition"/>
          <p:cNvSpPr txBox="1"/>
          <p:nvPr/>
        </p:nvSpPr>
        <p:spPr>
          <a:xfrm>
            <a:off x="548640" y="1143000"/>
            <a:ext cx="7589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Definition: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Root Mean Squared Logarithmic Error compares the logs of predicted and actual counts, so it measures relative error. Lower is better.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Validation used: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10-fold cross-validation for every model</a:t>
            </a:r>
            <a:endParaRPr lang="en-US" sz="1500" dirty="0"/>
          </a:p>
        </p:txBody>
      </p:sp>
      <p:sp>
        <p:nvSpPr>
          <p:cNvPr id="4" name="Equations"/>
          <p:cNvSpPr txBox="1"/>
          <p:nvPr/>
        </p:nvSpPr>
        <p:spPr>
          <a:xfrm>
            <a:off x="548640" y="2331720"/>
            <a:ext cx="7589520" cy="150876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27000" tIns="101600" rIns="1270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RMSLE = √( (1/n) Σ ( log(pᵢ + 1) − log(aᵢ + 1) )² 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pᵢ = predicted count,   aᵢ = actual count,   n = number of hours</a:t>
            </a:r>
            <a:endParaRPr lang="en-US" sz="1400" dirty="0"/>
          </a:p>
        </p:txBody>
      </p:sp>
      <p:sp>
        <p:nvSpPr>
          <p:cNvPr id="5" name="Result"/>
          <p:cNvSpPr txBox="1"/>
          <p:nvPr/>
        </p:nvSpPr>
        <p:spPr>
          <a:xfrm>
            <a:off x="548640" y="3977640"/>
            <a:ext cx="7589520" cy="68580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50800" tIns="50800" rIns="127000" bIns="508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Cross-validation score: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CV RMSLE, averaged over 10 folds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6A6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457200" y="56692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600" dirty="0"/>
          </a:p>
        </p:txBody>
      </p:sp>
      <p:sp>
        <p:nvSpPr>
          <p:cNvPr id="3" name="Definition"/>
          <p:cNvSpPr txBox="1"/>
          <p:nvPr/>
        </p:nvSpPr>
        <p:spPr>
          <a:xfrm>
            <a:off x="548640" y="1143000"/>
            <a:ext cx="7589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Definition: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 supervised learning algorithm that predicts the hourly rental count as a weighted linear combination of the features, with weights chosen to minimise squared error.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Validation used: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10-fold cross-validation</a:t>
            </a:r>
            <a:endParaRPr lang="en-US" sz="1500" dirty="0"/>
          </a:p>
        </p:txBody>
      </p:sp>
      <p:sp>
        <p:nvSpPr>
          <p:cNvPr id="4" name="Equations"/>
          <p:cNvSpPr txBox="1"/>
          <p:nvPr/>
        </p:nvSpPr>
        <p:spPr>
          <a:xfrm>
            <a:off x="548640" y="2331720"/>
            <a:ext cx="7589520" cy="150876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27000" tIns="101600" rIns="1270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h(x) = θᵀx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J(θ) = (1/2m) Σ ( h(xᵢ) − yᵢ )²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θ = (XᵀX)⁻¹ Xᵀ y     (normal equation)</a:t>
            </a:r>
            <a:endParaRPr lang="en-US" sz="1400" dirty="0"/>
          </a:p>
        </p:txBody>
      </p:sp>
      <p:sp>
        <p:nvSpPr>
          <p:cNvPr id="5" name="Result"/>
          <p:cNvSpPr txBox="1"/>
          <p:nvPr/>
        </p:nvSpPr>
        <p:spPr>
          <a:xfrm>
            <a:off x="548640" y="3977640"/>
            <a:ext cx="7589520" cy="68580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50800" tIns="50800" rIns="127000" bIns="508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CV RMSLE: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1.1855     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Rank: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9 of 9</a:t>
            </a:r>
            <a:endParaRPr lang="en-US" sz="1600" dirty="0"/>
          </a:p>
          <a:p>
            <a:pPr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Linear models struggled with non-linear demand patterns.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6A6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457200" y="56692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Component Regression (PCR)</a:t>
            </a:r>
            <a:endParaRPr lang="en-US" sz="1600" dirty="0"/>
          </a:p>
        </p:txBody>
      </p:sp>
      <p:sp>
        <p:nvSpPr>
          <p:cNvPr id="3" name="Definition"/>
          <p:cNvSpPr txBox="1"/>
          <p:nvPr/>
        </p:nvSpPr>
        <p:spPr>
          <a:xfrm>
            <a:off x="548640" y="1143000"/>
            <a:ext cx="7589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Definition: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Projects the correlated weather and calendar features onto their top principal components (PCA), then fits a linear regression on those components.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Validation used: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10-fold cross-validation</a:t>
            </a:r>
            <a:endParaRPr lang="en-US" sz="1500" dirty="0"/>
          </a:p>
        </p:txBody>
      </p:sp>
      <p:sp>
        <p:nvSpPr>
          <p:cNvPr id="4" name="Equations"/>
          <p:cNvSpPr txBox="1"/>
          <p:nvPr/>
        </p:nvSpPr>
        <p:spPr>
          <a:xfrm>
            <a:off x="548640" y="2331720"/>
            <a:ext cx="7589520" cy="150876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27000" tIns="101600" rIns="1270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Σ = (1/m) XᵀX,     Σ vₖ = λₖ vₖ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z = Vₖᵀ x     (project onto top-k components)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ŷ = θᵀz     (linear regression on components)</a:t>
            </a:r>
            <a:endParaRPr lang="en-US" sz="1400" dirty="0"/>
          </a:p>
        </p:txBody>
      </p:sp>
      <p:sp>
        <p:nvSpPr>
          <p:cNvPr id="5" name="Result"/>
          <p:cNvSpPr txBox="1"/>
          <p:nvPr/>
        </p:nvSpPr>
        <p:spPr>
          <a:xfrm>
            <a:off x="548640" y="3977640"/>
            <a:ext cx="7589520" cy="68580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50800" tIns="50800" rIns="127000" bIns="508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CV RMSLE: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1.1817     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Rank: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8 of 9</a:t>
            </a:r>
            <a:endParaRPr lang="en-US" sz="1600" dirty="0"/>
          </a:p>
          <a:p>
            <a:pPr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Linear models struggled with non-linear demand patterns.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6A6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457200" y="56692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GLMNet (Elastic Net)</a:t>
            </a:r>
            <a:endParaRPr lang="en-US" sz="1600" dirty="0"/>
          </a:p>
        </p:txBody>
      </p:sp>
      <p:sp>
        <p:nvSpPr>
          <p:cNvPr id="3" name="Definition"/>
          <p:cNvSpPr txBox="1"/>
          <p:nvPr/>
        </p:nvSpPr>
        <p:spPr>
          <a:xfrm>
            <a:off x="548640" y="1143000"/>
            <a:ext cx="7589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Definition: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Linear regression with a combined L1 (lasso) and L2 (ridge) penalty. It shrinks coefficients and can drop weak features when features are correlated.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Validation used: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10-fold cross-validation</a:t>
            </a:r>
            <a:endParaRPr lang="en-US" sz="1500" dirty="0"/>
          </a:p>
        </p:txBody>
      </p:sp>
      <p:sp>
        <p:nvSpPr>
          <p:cNvPr id="4" name="Equations"/>
          <p:cNvSpPr txBox="1"/>
          <p:nvPr/>
        </p:nvSpPr>
        <p:spPr>
          <a:xfrm>
            <a:off x="548640" y="2331720"/>
            <a:ext cx="7589520" cy="150876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27000" tIns="101600" rIns="1270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min (1/2m) Σ ( yᵢ − θᵀxᵢ )² + λ [ (1−α)/2 · ‖θ‖₂² + α · ‖θ‖₁ ]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α = 1 gives Lasso,   α = 0 gives Ridge</a:t>
            </a:r>
            <a:endParaRPr lang="en-US" sz="1400" dirty="0"/>
          </a:p>
        </p:txBody>
      </p:sp>
      <p:sp>
        <p:nvSpPr>
          <p:cNvPr id="5" name="Result"/>
          <p:cNvSpPr txBox="1"/>
          <p:nvPr/>
        </p:nvSpPr>
        <p:spPr>
          <a:xfrm>
            <a:off x="548640" y="3977640"/>
            <a:ext cx="7589520" cy="68580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50800" tIns="50800" rIns="127000" bIns="508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CV RMSLE: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1.1629     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Rank: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7 of 9</a:t>
            </a:r>
            <a:endParaRPr lang="en-US" sz="1600" dirty="0"/>
          </a:p>
          <a:p>
            <a:pPr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Linear models struggled with non-linear demand patterns.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6A6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457200" y="56692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Regression (RBF kernel)</a:t>
            </a:r>
            <a:endParaRPr lang="en-US" sz="1600" dirty="0"/>
          </a:p>
        </p:txBody>
      </p:sp>
      <p:sp>
        <p:nvSpPr>
          <p:cNvPr id="3" name="Definition"/>
          <p:cNvSpPr txBox="1"/>
          <p:nvPr/>
        </p:nvSpPr>
        <p:spPr>
          <a:xfrm>
            <a:off x="548640" y="1143000"/>
            <a:ext cx="7589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Definition: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Fits a function that stays within an ε-tube around the targets while keeping the model as flat as possible. The RBF kernel lets it model non-linear relationships.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Validation used: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10-fold cross-validation</a:t>
            </a:r>
            <a:endParaRPr lang="en-US" sz="1500" dirty="0"/>
          </a:p>
        </p:txBody>
      </p:sp>
      <p:sp>
        <p:nvSpPr>
          <p:cNvPr id="4" name="Equations"/>
          <p:cNvSpPr txBox="1"/>
          <p:nvPr/>
        </p:nvSpPr>
        <p:spPr>
          <a:xfrm>
            <a:off x="548640" y="2331720"/>
            <a:ext cx="7589520" cy="150876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27000" tIns="101600" rIns="1270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min ½‖w‖² + C Σ (ξᵢ + ξᵢ*)   s.t.  |yᵢ − (wᵀφ(xᵢ) + b)| ≤ ε + ξᵢ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K(x, z) = exp( −γ ‖x − z‖² 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ŷ = Σ (αᵢ − αᵢ*) K(xᵢ, x) + b</a:t>
            </a:r>
            <a:endParaRPr lang="en-US" sz="1400" dirty="0"/>
          </a:p>
        </p:txBody>
      </p:sp>
      <p:sp>
        <p:nvSpPr>
          <p:cNvPr id="5" name="Result"/>
          <p:cNvSpPr txBox="1"/>
          <p:nvPr/>
        </p:nvSpPr>
        <p:spPr>
          <a:xfrm>
            <a:off x="548640" y="3977640"/>
            <a:ext cx="7589520" cy="68580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50800" tIns="50800" rIns="127000" bIns="508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CV RMSLE: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0.8452     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Rank: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6 of 9</a:t>
            </a:r>
            <a:endParaRPr lang="en-US" sz="1600" dirty="0"/>
          </a:p>
          <a:p>
            <a:pPr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Better than the linear models, but behind the tree-based models.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6A6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457200" y="56692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CTree (Decision Tree substitute)</a:t>
            </a:r>
            <a:endParaRPr lang="en-US" sz="1600" dirty="0"/>
          </a:p>
        </p:txBody>
      </p:sp>
      <p:sp>
        <p:nvSpPr>
          <p:cNvPr id="3" name="Definition"/>
          <p:cNvSpPr txBox="1"/>
          <p:nvPr/>
        </p:nvSpPr>
        <p:spPr>
          <a:xfrm>
            <a:off x="548640" y="1143000"/>
            <a:ext cx="7589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Definition: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 tree of if/else tests on the features; each split makes the child nodes' counts more alike. A decision tree regressor stands in for the conditional inference tree (ctree).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Validation used: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10-fold cross-validation</a:t>
            </a:r>
            <a:endParaRPr lang="en-US" sz="1500" dirty="0"/>
          </a:p>
        </p:txBody>
      </p:sp>
      <p:sp>
        <p:nvSpPr>
          <p:cNvPr id="4" name="Equations"/>
          <p:cNvSpPr txBox="1"/>
          <p:nvPr/>
        </p:nvSpPr>
        <p:spPr>
          <a:xfrm>
            <a:off x="548640" y="2331720"/>
            <a:ext cx="7589520" cy="150876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27000" tIns="101600" rIns="1270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MSE(node) = (1/n) Σ ( yᵢ − ȳ )²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Gain = MSE(parent) − Σ (nⱼ/n) · MSE(childⱼ)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ŷ(leaf) = mean of yᵢ in the leaf</a:t>
            </a:r>
            <a:endParaRPr lang="en-US" sz="1400" dirty="0"/>
          </a:p>
        </p:txBody>
      </p:sp>
      <p:sp>
        <p:nvSpPr>
          <p:cNvPr id="5" name="Result"/>
          <p:cNvSpPr txBox="1"/>
          <p:nvPr/>
        </p:nvSpPr>
        <p:spPr>
          <a:xfrm>
            <a:off x="548640" y="3977640"/>
            <a:ext cx="7589520" cy="68580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50800" tIns="50800" rIns="127000" bIns="508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CV RMSLE: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0.4469     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Rank: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3 of 9</a:t>
            </a:r>
            <a:endParaRPr lang="en-US" sz="1600" dirty="0"/>
          </a:p>
          <a:p>
            <a:pPr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A single tree is a strong baseline; ensembles improved on it.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6A6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457200" y="56692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3" name="Definition"/>
          <p:cNvSpPr txBox="1"/>
          <p:nvPr/>
        </p:nvSpPr>
        <p:spPr>
          <a:xfrm>
            <a:off x="548640" y="1143000"/>
            <a:ext cx="7589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Definition: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An ensemble of decision trees, each trained on a bootstrap sample with a random feature subset at every split. Averaging the trees reduces the variance of a single tree.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Validation used: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10-fold cross-validation</a:t>
            </a:r>
            <a:endParaRPr lang="en-US" sz="1500" dirty="0"/>
          </a:p>
        </p:txBody>
      </p:sp>
      <p:sp>
        <p:nvSpPr>
          <p:cNvPr id="4" name="Equations"/>
          <p:cNvSpPr txBox="1"/>
          <p:nvPr/>
        </p:nvSpPr>
        <p:spPr>
          <a:xfrm>
            <a:off x="548640" y="2331720"/>
            <a:ext cx="7589520" cy="150876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27000" tIns="101600" rIns="1270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ŷ(x) = (1/B) Σ T_b(x)     (average of B trees)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T_b: trained on bootstrap sample b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Importance(f) = impurity reduction from f, averaged over trees</a:t>
            </a:r>
            <a:endParaRPr lang="en-US" sz="1400" dirty="0"/>
          </a:p>
        </p:txBody>
      </p:sp>
      <p:sp>
        <p:nvSpPr>
          <p:cNvPr id="5" name="Result"/>
          <p:cNvSpPr txBox="1"/>
          <p:nvPr/>
        </p:nvSpPr>
        <p:spPr>
          <a:xfrm>
            <a:off x="548640" y="3977640"/>
            <a:ext cx="7589520" cy="68580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50800" tIns="50800" rIns="127000" bIns="508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CV RMSLE: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0.3985     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Rank: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2 of 9</a:t>
            </a:r>
            <a:endParaRPr lang="en-US" sz="1600" dirty="0"/>
          </a:p>
          <a:p>
            <a:pPr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Used for feature importance: peak_hour + hour ≈ 64%.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6A6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457200" y="56692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(GBM)</a:t>
            </a:r>
            <a:endParaRPr lang="en-US" sz="1600" dirty="0"/>
          </a:p>
        </p:txBody>
      </p:sp>
      <p:sp>
        <p:nvSpPr>
          <p:cNvPr id="3" name="Definition"/>
          <p:cNvSpPr txBox="1"/>
          <p:nvPr/>
        </p:nvSpPr>
        <p:spPr>
          <a:xfrm>
            <a:off x="548640" y="1143000"/>
            <a:ext cx="7589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Definition: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Builds trees one after another, each fit to the errors left by the ensemble so far. A learning rate scales every tree's contribution.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Validation used: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10-fold cross-validation</a:t>
            </a:r>
            <a:endParaRPr lang="en-US" sz="1500" dirty="0"/>
          </a:p>
        </p:txBody>
      </p:sp>
      <p:sp>
        <p:nvSpPr>
          <p:cNvPr id="4" name="Equations"/>
          <p:cNvSpPr txBox="1"/>
          <p:nvPr/>
        </p:nvSpPr>
        <p:spPr>
          <a:xfrm>
            <a:off x="548640" y="2331720"/>
            <a:ext cx="7589520" cy="150876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27000" tIns="101600" rIns="1270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Fₘ(x) = Fₘ₋₁(x) + ν · hₘ(x)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rᵢ = −∂L(yᵢ, F(xᵢ)) / ∂F(xᵢ)     (hₘ is fit to rᵢ)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Squared loss:  rᵢ = yᵢ − Fₘ₋₁(xᵢ)</a:t>
            </a:r>
            <a:endParaRPr lang="en-US" sz="1400" dirty="0"/>
          </a:p>
        </p:txBody>
      </p:sp>
      <p:sp>
        <p:nvSpPr>
          <p:cNvPr id="5" name="Result"/>
          <p:cNvSpPr txBox="1"/>
          <p:nvPr/>
        </p:nvSpPr>
        <p:spPr>
          <a:xfrm>
            <a:off x="548640" y="3977640"/>
            <a:ext cx="7589520" cy="68580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50800" tIns="50800" rIns="127000" bIns="508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CV RMSLE: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0.5016     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Rank: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4 of 9</a:t>
            </a:r>
            <a:endParaRPr lang="en-US" sz="1600" dirty="0"/>
          </a:p>
          <a:p>
            <a:pPr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Ranked below Random Forest and CTree in this experiment.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6A6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457200" y="56692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Ensemble</a:t>
            </a:r>
            <a:endParaRPr lang="en-US" sz="1600" dirty="0"/>
          </a:p>
        </p:txBody>
      </p:sp>
      <p:sp>
        <p:nvSpPr>
          <p:cNvPr id="3" name="Definition"/>
          <p:cNvSpPr txBox="1"/>
          <p:nvPr/>
        </p:nvSpPr>
        <p:spPr>
          <a:xfrm>
            <a:off x="548640" y="1143000"/>
            <a:ext cx="7589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Definition: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Combines the predictions of several base models using a meta-learner, aiming to do better than any single base model.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Validation used: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10-fold cross-validation</a:t>
            </a:r>
            <a:endParaRPr lang="en-US" sz="1500" dirty="0"/>
          </a:p>
        </p:txBody>
      </p:sp>
      <p:sp>
        <p:nvSpPr>
          <p:cNvPr id="4" name="Equations"/>
          <p:cNvSpPr txBox="1"/>
          <p:nvPr/>
        </p:nvSpPr>
        <p:spPr>
          <a:xfrm>
            <a:off x="548640" y="2331720"/>
            <a:ext cx="7589520" cy="150876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27000" tIns="101600" rIns="1270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Level 0:  ŷ₁(x), ŷ₂(x), …, ŷₖ(x)     (base model predictions)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Level 1:  ŷ(x) = f_meta( ŷ₁(x), …, ŷₖ(x) )</a:t>
            </a:r>
            <a:endParaRPr lang="en-US" sz="1400" dirty="0"/>
          </a:p>
        </p:txBody>
      </p:sp>
      <p:sp>
        <p:nvSpPr>
          <p:cNvPr id="5" name="Result"/>
          <p:cNvSpPr txBox="1"/>
          <p:nvPr/>
        </p:nvSpPr>
        <p:spPr>
          <a:xfrm>
            <a:off x="548640" y="3977640"/>
            <a:ext cx="7589520" cy="68580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50800" tIns="50800" rIns="127000" bIns="508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CV RMSLE: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0.5624     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Rank: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5 of 9</a:t>
            </a:r>
            <a:endParaRPr lang="en-US" sz="1600" dirty="0"/>
          </a:p>
          <a:p>
            <a:pPr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Did not beat the best single models.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6A6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457200" y="56692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Regression (reg + cas)</a:t>
            </a:r>
            <a:endParaRPr lang="en-US" sz="1600" dirty="0"/>
          </a:p>
        </p:txBody>
      </p:sp>
      <p:sp>
        <p:nvSpPr>
          <p:cNvPr id="3" name="Definition"/>
          <p:cNvSpPr txBox="1"/>
          <p:nvPr/>
        </p:nvSpPr>
        <p:spPr>
          <a:xfrm>
            <a:off x="548640" y="1143000"/>
            <a:ext cx="7589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Definition: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Models registered (reg) and casual (cas) rentals separately and adds the two predictions to get the total hourly demand.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Validation used: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10-fold cross-validation</a:t>
            </a:r>
            <a:endParaRPr lang="en-US" sz="1500" dirty="0"/>
          </a:p>
        </p:txBody>
      </p:sp>
      <p:sp>
        <p:nvSpPr>
          <p:cNvPr id="4" name="Equations"/>
          <p:cNvSpPr txBox="1"/>
          <p:nvPr/>
        </p:nvSpPr>
        <p:spPr>
          <a:xfrm>
            <a:off x="548640" y="2331720"/>
            <a:ext cx="7589520" cy="150876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27000" tIns="101600" rIns="1270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count = registered + casual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ŷ_reg = f_reg(x),     ŷ_cas = f_cas(x)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ŷ_count = ŷ_reg + ŷ_cas</a:t>
            </a:r>
            <a:endParaRPr lang="en-US" sz="1400" dirty="0"/>
          </a:p>
        </p:txBody>
      </p:sp>
      <p:sp>
        <p:nvSpPr>
          <p:cNvPr id="5" name="Result"/>
          <p:cNvSpPr txBox="1"/>
          <p:nvPr/>
        </p:nvSpPr>
        <p:spPr>
          <a:xfrm>
            <a:off x="548640" y="3977640"/>
            <a:ext cx="7589520" cy="68580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50800" tIns="50800" rIns="127000" bIns="508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CV RMSLE: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0.3928     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Rank: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1 of 9</a:t>
            </a:r>
            <a:endParaRPr lang="en-US" sz="1600" dirty="0"/>
          </a:p>
          <a:p>
            <a:pPr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Best CV RMSLE overall, on par with Random Forest.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6A6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457200" y="56692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(10-fold CV RMSLE)</a:t>
            </a:r>
            <a:endParaRPr lang="en-US" sz="1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097280"/>
          <a:ext cx="758952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Best models"/>
          <p:cNvSpPr txBox="1"/>
          <p:nvPr/>
        </p:nvSpPr>
        <p:spPr>
          <a:xfrm>
            <a:off x="548640" y="4160520"/>
            <a:ext cx="7589520" cy="50292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50800" tIns="50800" rIns="127000" bIns="508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Best: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Split Regression (0.3928) and Random Forest (0.3985). Lower RMSLE is better.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6A6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457200" y="56692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3" name="Findings"/>
          <p:cNvSpPr txBox="1"/>
          <p:nvPr/>
        </p:nvSpPr>
        <p:spPr>
          <a:xfrm>
            <a:off x="548640" y="1143000"/>
            <a:ext cx="5029200" cy="260604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52400" tIns="127000" rIns="152400" bIns="10160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Time of day dominates demand; weather matters, but less (atemp and humidity are secondary).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Tree-based models win; linear and kernel models struggled with non-linear demand.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Split regression matched Random Forest, contradicting the reference paper, where it was worse.</a:t>
            </a:r>
            <a:endParaRPr lang="en-US" sz="1400" dirty="0"/>
          </a:p>
        </p:txBody>
      </p:sp>
      <p:sp>
        <p:nvSpPr>
          <p:cNvPr id="4" name="Stat card"/>
          <p:cNvSpPr/>
          <p:nvPr/>
        </p:nvSpPr>
        <p:spPr>
          <a:xfrm>
            <a:off x="5760720" y="1143000"/>
            <a:ext cx="2377440" cy="2606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Stat"/>
          <p:cNvSpPr txBox="1"/>
          <p:nvPr/>
        </p:nvSpPr>
        <p:spPr>
          <a:xfrm>
            <a:off x="5760720" y="14173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~64%</a:t>
            </a:r>
            <a:endParaRPr lang="en-US" sz="4800" dirty="0"/>
          </a:p>
        </p:txBody>
      </p:sp>
      <p:sp>
        <p:nvSpPr>
          <p:cNvPr id="6" name="Stat label"/>
          <p:cNvSpPr txBox="1"/>
          <p:nvPr/>
        </p:nvSpPr>
        <p:spPr>
          <a:xfrm>
            <a:off x="5943600" y="237744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of feature importance comes from peak_hour + hour</a:t>
            </a:r>
            <a:endParaRPr lang="en-US" sz="1400" dirty="0"/>
          </a:p>
        </p:txBody>
      </p:sp>
      <p:sp>
        <p:nvSpPr>
          <p:cNvPr id="7" name="Conclusion"/>
          <p:cNvSpPr txBox="1"/>
          <p:nvPr/>
        </p:nvSpPr>
        <p:spPr>
          <a:xfrm>
            <a:off x="548640" y="3931920"/>
            <a:ext cx="7589520" cy="73152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50800" tIns="50800" rIns="127000" bIns="508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CONCLUSION: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Split Regression and Random Forest are the best models, at about 0.39 CV RMSLE.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6A6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457200" y="56692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600" dirty="0"/>
          </a:p>
        </p:txBody>
      </p:sp>
      <p:sp>
        <p:nvSpPr>
          <p:cNvPr id="3" name="References"/>
          <p:cNvSpPr txBox="1"/>
          <p:nvPr/>
        </p:nvSpPr>
        <p:spPr>
          <a:xfrm>
            <a:off x="548640" y="1188720"/>
            <a:ext cx="7589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Du, J., He, R., &amp; Zhechev, Z. (2014). </a:t>
            </a:r>
            <a:pPr indent="0" marL="0">
              <a:spcAft>
                <a:spcPts val="800"/>
              </a:spcAft>
              <a:buNone/>
            </a:pPr>
            <a:r>
              <a:rPr lang="en-US" sz="1400" i="1" dirty="0">
                <a:solidFill>
                  <a:schemeClr val="tx1"/>
                </a:solidFill>
              </a:rPr>
              <a:t>Forecasting Bike Rental Demand.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Friedman, J., Hastie, T., &amp; Tibshirani, R. (2010). Regularization paths for generalized linear models via coordinate descent. </a:t>
            </a:r>
            <a:pPr indent="0" marL="0">
              <a:spcAft>
                <a:spcPts val="800"/>
              </a:spcAft>
              <a:buNone/>
            </a:pPr>
            <a:r>
              <a:rPr lang="en-US" sz="1400" i="1" dirty="0">
                <a:solidFill>
                  <a:schemeClr val="tx1"/>
                </a:solidFill>
              </a:rPr>
              <a:t>Journal of Statistical Software, 33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(1).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Liaw, A., &amp; Wiener, M. (2002). Classification and regression by randomForest. </a:t>
            </a:r>
            <a:pPr indent="0" marL="0">
              <a:spcAft>
                <a:spcPts val="800"/>
              </a:spcAft>
              <a:buNone/>
            </a:pPr>
            <a:r>
              <a:rPr lang="en-US" sz="1400" i="1" dirty="0">
                <a:solidFill>
                  <a:schemeClr val="tx1"/>
                </a:solidFill>
              </a:rPr>
              <a:t>R News, 2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(3).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Hothorn, T., &amp; Zeileis, A. (2006). Unbiased recursive partitioning: A conditional inference framework. </a:t>
            </a:r>
            <a:pPr indent="0" marL="0">
              <a:spcAft>
                <a:spcPts val="800"/>
              </a:spcAft>
              <a:buNone/>
            </a:pPr>
            <a:r>
              <a:rPr lang="en-US" sz="1400" i="1" dirty="0">
                <a:solidFill>
                  <a:schemeClr val="tx1"/>
                </a:solidFill>
              </a:rPr>
              <a:t>Journal of Computational and Graphical Statistics, 15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(3).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Kaggle. </a:t>
            </a:r>
            <a:pPr indent="0" marL="0">
              <a:spcAft>
                <a:spcPts val="800"/>
              </a:spcAft>
              <a:buNone/>
            </a:pPr>
            <a:r>
              <a:rPr lang="en-US" sz="1400" i="1" dirty="0">
                <a:solidFill>
                  <a:schemeClr val="tx1"/>
                </a:solidFill>
              </a:rPr>
              <a:t>Bike Sharing Demand.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kaggle.com/c/bike-sharing-demand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6A6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ank you"/>
          <p:cNvSpPr txBox="1"/>
          <p:nvPr/>
        </p:nvSpPr>
        <p:spPr>
          <a:xfrm>
            <a:off x="731520" y="17373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Thank You</a:t>
            </a: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6A6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S Bike Demand">
  <a:themeElements>
    <a:clrScheme name="PES Bike Demand">
      <a:dk1>
        <a:srgbClr val="262626"/>
      </a:dk1>
      <a:lt1>
        <a:srgbClr val="FFFFFF"/>
      </a:lt1>
      <a:dk2>
        <a:srgbClr val="1F4E79"/>
      </a:dk2>
      <a:lt2>
        <a:srgbClr val="F2F2F2"/>
      </a:lt2>
      <a:accent1>
        <a:srgbClr val="2E75B6"/>
      </a:accent1>
      <a:accent2>
        <a:srgbClr val="C55A11"/>
      </a:accent2>
      <a:accent3>
        <a:srgbClr val="FBE5D6"/>
      </a:accent3>
      <a:accent4>
        <a:srgbClr val="A6A6A6"/>
      </a:accent4>
      <a:accent5>
        <a:srgbClr val="1F4E79"/>
      </a:accent5>
      <a:accent6>
        <a:srgbClr val="7F7F7F"/>
      </a:accent6>
      <a:hlink>
        <a:srgbClr val="2E75B6"/>
      </a:hlink>
      <a:folHlink>
        <a:srgbClr val="7F7F7F"/>
      </a:folHlink>
    </a:clrScheme>
    <a:fontScheme name="PES Bike Demand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Forecasting Bike Rental Demand</dc:title>
  <dc:subject>PptxGenJS Presentation</dc:subject>
  <dc:creator>Ibrahim Khaleel, Dheeraj S</dc:creator>
  <cp:lastModifiedBy>Ibrahim Khaleel, Dheeraj S</cp:lastModifiedBy>
  <cp:revision>1</cp:revision>
  <dcterms:created xsi:type="dcterms:W3CDTF">2026-10-14T15:20:23Z</dcterms:created>
  <dcterms:modified xsi:type="dcterms:W3CDTF">2026-10-14T15:20:23Z</dcterms:modified>
</cp:coreProperties>
</file>